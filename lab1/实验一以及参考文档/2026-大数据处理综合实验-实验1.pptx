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60" r:id="rId3"/>
    <p:sldId id="261" r:id="rId4"/>
    <p:sldId id="262" r:id="rId5"/>
    <p:sldId id="263" r:id="rId6"/>
    <p:sldId id="264" r:id="rId7"/>
    <p:sldId id="270" r:id="rId8"/>
    <p:sldId id="271" r:id="rId9"/>
    <p:sldId id="265" r:id="rId10"/>
    <p:sldId id="266" r:id="rId11"/>
    <p:sldId id="267" r:id="rId12"/>
    <p:sldId id="268" r:id="rId13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017B9-EDFB-482D-9617-A3F3CFB69E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017B9-EDFB-482D-9617-A3F3CFB69E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2781-9D63-4C28-9A04-53F2082992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ECA8-F9C1-48EF-8211-4D66CFD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2781-9D63-4C28-9A04-53F2082992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ECA8-F9C1-48EF-8211-4D66CFD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2781-9D63-4C28-9A04-53F2082992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ECA8-F9C1-48EF-8211-4D66CFD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2781-9D63-4C28-9A04-53F2082992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ECA8-F9C1-48EF-8211-4D66CFD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2781-9D63-4C28-9A04-53F2082992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ECA8-F9C1-48EF-8211-4D66CFD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2781-9D63-4C28-9A04-53F2082992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ECA8-F9C1-48EF-8211-4D66CFD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2781-9D63-4C28-9A04-53F2082992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ECA8-F9C1-48EF-8211-4D66CFD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2781-9D63-4C28-9A04-53F2082992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ECA8-F9C1-48EF-8211-4D66CFD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2781-9D63-4C28-9A04-53F2082992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ECA8-F9C1-48EF-8211-4D66CFD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347849"/>
            <a:ext cx="10515600" cy="91314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2440379"/>
            <a:ext cx="10515600" cy="373658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2781-9D63-4C28-9A04-53F2082992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ECA8-F9C1-48EF-8211-4D66CFD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2781-9D63-4C28-9A04-53F2082992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ECA8-F9C1-48EF-8211-4D66CFD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92781-9D63-4C28-9A04-53F2082992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A5ECA8-F9C1-48EF-8211-4D66CFDE0412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徽标&#10;&#10;AI 生成的内容可能不正确。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1" y="0"/>
            <a:ext cx="1601859" cy="713003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525"/>
            <a:ext cx="570730" cy="715483"/>
          </a:xfrm>
          <a:prstGeom prst="rect">
            <a:avLst/>
          </a:prstGeom>
        </p:spPr>
      </p:pic>
      <p:pic>
        <p:nvPicPr>
          <p:cNvPr id="9" name="图片 8" descr="卡通人物&#10;&#10;AI 生成的内容可能不正确。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08678"/>
            <a:ext cx="735949" cy="73964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fluid-cloudnative/fluid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911349"/>
            <a:ext cx="9144000" cy="1776413"/>
          </a:xfrm>
        </p:spPr>
        <p:txBody>
          <a:bodyPr>
            <a:normAutofit/>
          </a:bodyPr>
          <a:lstStyle/>
          <a:p>
            <a:r>
              <a:rPr lang="zh-CN" altLang="zh-CN" dirty="0"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大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数据处理</a:t>
            </a:r>
            <a:r>
              <a:rPr lang="zh-CN" altLang="zh-CN" dirty="0"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综合实验课程</a:t>
            </a:r>
            <a:r>
              <a:rPr lang="zh-CN" altLang="en-US" dirty="0"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2026</a:t>
            </a:r>
            <a:r>
              <a:rPr lang="zh-CN" altLang="en-US" dirty="0"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39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5494337"/>
            <a:ext cx="9144000" cy="423863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</a:rPr>
              <a:t>南京大学</a:t>
            </a:r>
            <a:r>
              <a:rPr lang="en-US" altLang="zh-CN" dirty="0">
                <a:solidFill>
                  <a:schemeClr val="accent1"/>
                </a:solidFill>
              </a:rPr>
              <a:t>	</a:t>
            </a:r>
            <a:r>
              <a:rPr lang="zh-CN" altLang="en-US" dirty="0">
                <a:solidFill>
                  <a:schemeClr val="accent1"/>
                </a:solidFill>
              </a:rPr>
              <a:t>计算机学院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" name="副标题 2"/>
          <p:cNvSpPr txBox="1"/>
          <p:nvPr/>
        </p:nvSpPr>
        <p:spPr>
          <a:xfrm>
            <a:off x="1524000" y="4005261"/>
            <a:ext cx="9144000" cy="423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课程实验</a:t>
            </a:r>
            <a:r>
              <a:rPr lang="en-US" altLang="zh-CN" sz="2400" dirty="0"/>
              <a:t>1</a:t>
            </a:r>
            <a:r>
              <a:rPr lang="en-US" altLang="zh-CN" dirty="0"/>
              <a:t>-</a:t>
            </a:r>
            <a:r>
              <a:rPr lang="en-US" altLang="zh-CN" sz="2400" dirty="0"/>
              <a:t>Hadoop</a:t>
            </a:r>
            <a:r>
              <a:rPr lang="zh-CN" altLang="en-US" sz="2400" dirty="0"/>
              <a:t>系统安装、开源大数据系统实验工具链使用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838200" y="977900"/>
            <a:ext cx="10515600" cy="601331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</a:rPr>
              <a:t>课程实验</a:t>
            </a:r>
            <a:r>
              <a:rPr lang="en-US" altLang="zh-CN" sz="2800" dirty="0">
                <a:solidFill>
                  <a:schemeClr val="accent1"/>
                </a:solidFill>
              </a:rPr>
              <a:t>1</a:t>
            </a:r>
            <a:r>
              <a:rPr lang="zh-CN" altLang="en-US" sz="2800" dirty="0">
                <a:solidFill>
                  <a:schemeClr val="accent1"/>
                </a:solidFill>
              </a:rPr>
              <a:t>：</a:t>
            </a:r>
            <a:r>
              <a:rPr lang="en-US" altLang="zh-CN" sz="2800" dirty="0">
                <a:solidFill>
                  <a:schemeClr val="accent1"/>
                </a:solidFill>
              </a:rPr>
              <a:t>Hadoop</a:t>
            </a:r>
            <a:r>
              <a:rPr lang="zh-CN" altLang="en-US" sz="2800" dirty="0">
                <a:solidFill>
                  <a:schemeClr val="accent1"/>
                </a:solidFill>
              </a:rPr>
              <a:t>系统安装、开源大数据系统实验工具链使用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199" y="2025650"/>
            <a:ext cx="11233727" cy="4005695"/>
          </a:xfrm>
        </p:spPr>
        <p:txBody>
          <a:bodyPr>
            <a:normAutofit/>
          </a:bodyPr>
          <a:lstStyle/>
          <a:p>
            <a:r>
              <a:rPr lang="zh-CN" altLang="en-US" dirty="0"/>
              <a:t>实验目标：</a:t>
            </a:r>
            <a:endParaRPr lang="en-US" altLang="zh-CN" dirty="0"/>
          </a:p>
          <a:p>
            <a:pPr lvl="1"/>
            <a:r>
              <a:rPr lang="zh-CN" altLang="en-US" dirty="0"/>
              <a:t>在本地安装 </a:t>
            </a:r>
            <a:r>
              <a:rPr lang="en-US" altLang="zh-CN" dirty="0"/>
              <a:t>Hadoop,</a:t>
            </a:r>
            <a:r>
              <a:rPr lang="zh-CN" altLang="en-US" dirty="0"/>
              <a:t> </a:t>
            </a:r>
            <a:r>
              <a:rPr lang="en-US" altLang="zh-CN" dirty="0"/>
              <a:t>Git </a:t>
            </a:r>
            <a:r>
              <a:rPr lang="zh-CN" altLang="en-US" dirty="0"/>
              <a:t>开源大数据工具链；</a:t>
            </a:r>
            <a:endParaRPr lang="en-US" altLang="zh-CN" dirty="0"/>
          </a:p>
          <a:p>
            <a:pPr lvl="1"/>
            <a:r>
              <a:rPr lang="zh-CN" altLang="en-US" dirty="0"/>
              <a:t>完成每个工具的简单示例操作，验证安装是否成功；</a:t>
            </a:r>
            <a:endParaRPr lang="en-US" altLang="zh-CN" dirty="0"/>
          </a:p>
          <a:p>
            <a:pPr lvl="1"/>
            <a:r>
              <a:rPr lang="zh-CN" altLang="en-US" dirty="0"/>
              <a:t>熟悉开源大数据工具链的基本使用。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工具链说明：</a:t>
            </a:r>
            <a:endParaRPr lang="en-US" altLang="zh-CN" dirty="0"/>
          </a:p>
          <a:p>
            <a:pPr lvl="1"/>
            <a:r>
              <a:rPr lang="en-US" altLang="zh-CN" dirty="0"/>
              <a:t>Hadoop</a:t>
            </a:r>
            <a:r>
              <a:rPr lang="zh-CN" altLang="en-US" dirty="0"/>
              <a:t>：分布式存储（</a:t>
            </a:r>
            <a:r>
              <a:rPr lang="en-US" altLang="zh-CN" dirty="0"/>
              <a:t>HDFS</a:t>
            </a:r>
            <a:r>
              <a:rPr lang="zh-CN" altLang="en-US" dirty="0"/>
              <a:t>）和计算（</a:t>
            </a:r>
            <a:r>
              <a:rPr lang="en-US" altLang="zh-CN" dirty="0"/>
              <a:t>MapReduce</a:t>
            </a:r>
            <a:r>
              <a:rPr lang="zh-CN" altLang="en-US" dirty="0"/>
              <a:t>）的基础框架。</a:t>
            </a:r>
            <a:endParaRPr lang="zh-CN" altLang="en-US" dirty="0"/>
          </a:p>
          <a:p>
            <a:pPr lvl="1"/>
            <a:r>
              <a:rPr lang="en-US" altLang="zh-CN" dirty="0"/>
              <a:t>Git</a:t>
            </a:r>
            <a:r>
              <a:rPr lang="zh-CN" altLang="en-US" dirty="0"/>
              <a:t>：代码版本控制系统，用于跟踪、管理项目文件变更，支持多人协作开发。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838200" y="977900"/>
            <a:ext cx="10515600" cy="601331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</a:rPr>
              <a:t>课程实验</a:t>
            </a:r>
            <a:r>
              <a:rPr lang="en-US" altLang="zh-CN" sz="2800" dirty="0">
                <a:solidFill>
                  <a:schemeClr val="accent1"/>
                </a:solidFill>
              </a:rPr>
              <a:t>1</a:t>
            </a:r>
            <a:r>
              <a:rPr lang="zh-CN" altLang="en-US" sz="2800" dirty="0">
                <a:solidFill>
                  <a:schemeClr val="accent1"/>
                </a:solidFill>
              </a:rPr>
              <a:t>：</a:t>
            </a:r>
            <a:r>
              <a:rPr lang="en-US" altLang="zh-CN" sz="2800" dirty="0">
                <a:solidFill>
                  <a:schemeClr val="accent1"/>
                </a:solidFill>
              </a:rPr>
              <a:t>Hadoop</a:t>
            </a:r>
            <a:r>
              <a:rPr lang="zh-CN" altLang="en-US" sz="2800" dirty="0">
                <a:solidFill>
                  <a:schemeClr val="accent1"/>
                </a:solidFill>
              </a:rPr>
              <a:t>系统安装、开源大数据系统实验工具链使用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803979"/>
            <a:ext cx="10515600" cy="211830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任务</a:t>
            </a:r>
            <a:r>
              <a:rPr lang="en-US" altLang="zh-CN" sz="2000" dirty="0"/>
              <a:t>1</a:t>
            </a:r>
            <a:r>
              <a:rPr lang="zh-CN" altLang="en-US" sz="2000" dirty="0"/>
              <a:t>：</a:t>
            </a:r>
            <a:r>
              <a:rPr lang="en-US" altLang="zh-CN" sz="2000" dirty="0"/>
              <a:t>Hadoop </a:t>
            </a:r>
            <a:r>
              <a:rPr lang="zh-CN" altLang="en-US" sz="2000" dirty="0"/>
              <a:t>伪分布式环境安装与配置，</a:t>
            </a:r>
            <a:r>
              <a:rPr lang="en-US" altLang="zh-CN" sz="2000" dirty="0"/>
              <a:t>HDFS</a:t>
            </a:r>
            <a:r>
              <a:rPr lang="zh-CN" altLang="en-US" sz="2000" dirty="0"/>
              <a:t>基本操作；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任务</a:t>
            </a:r>
            <a:r>
              <a:rPr lang="en-US" altLang="zh-CN" sz="2000" dirty="0"/>
              <a:t>2</a:t>
            </a:r>
            <a:r>
              <a:rPr lang="zh-CN" altLang="en-US" sz="2000" dirty="0"/>
              <a:t>：执行</a:t>
            </a:r>
            <a:r>
              <a:rPr lang="en-US" altLang="zh-CN" sz="2000" dirty="0"/>
              <a:t>Hadoop</a:t>
            </a:r>
            <a:r>
              <a:rPr lang="zh-CN" altLang="en-US" sz="2000" dirty="0"/>
              <a:t>官方示例程序</a:t>
            </a:r>
            <a:r>
              <a:rPr lang="en-US" altLang="zh-CN" sz="2000" dirty="0"/>
              <a:t>wordcount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任务</a:t>
            </a:r>
            <a:r>
              <a:rPr lang="en-US" altLang="zh-CN" sz="2000" dirty="0"/>
              <a:t>3</a:t>
            </a:r>
            <a:r>
              <a:rPr lang="zh-CN" altLang="en-US" sz="2000" dirty="0"/>
              <a:t>：</a:t>
            </a:r>
            <a:r>
              <a:rPr lang="en-US" altLang="zh-CN" sz="2000" dirty="0"/>
              <a:t>Git </a:t>
            </a:r>
            <a:r>
              <a:rPr lang="zh-CN" altLang="en-US" sz="2000" dirty="0"/>
              <a:t>安装与基本操作；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附加实验（可选）：执行更多的</a:t>
            </a:r>
            <a:r>
              <a:rPr lang="en-US" altLang="zh-CN" sz="2000" dirty="0"/>
              <a:t>Hadoop</a:t>
            </a:r>
            <a:r>
              <a:rPr lang="zh-CN" altLang="en-US" sz="2000" dirty="0"/>
              <a:t>官方示例程序。</a:t>
            </a:r>
            <a:endParaRPr lang="zh-CN" altLang="en-US" sz="2000" dirty="0"/>
          </a:p>
        </p:txBody>
      </p:sp>
      <p:sp>
        <p:nvSpPr>
          <p:cNvPr id="2" name="内容占位符 6"/>
          <p:cNvSpPr txBox="1"/>
          <p:nvPr/>
        </p:nvSpPr>
        <p:spPr>
          <a:xfrm>
            <a:off x="838200" y="4147028"/>
            <a:ext cx="10515600" cy="1939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2000" dirty="0"/>
              <a:t>实验环境：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1800" dirty="0"/>
              <a:t>操作系统：</a:t>
            </a:r>
            <a:r>
              <a:rPr lang="en-US" altLang="zh-CN" sz="1800" dirty="0"/>
              <a:t>Linux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>
              <a:lnSpc>
                <a:spcPct val="100000"/>
              </a:lnSpc>
            </a:pPr>
            <a:r>
              <a:rPr lang="zh-CN" altLang="en-US" sz="1800" dirty="0"/>
              <a:t>软件环境：</a:t>
            </a:r>
            <a:r>
              <a:rPr lang="en-US" altLang="zh-CN" sz="1800" dirty="0"/>
              <a:t>jdk-8(java 1.8.0_201), Hadoop-3.2.1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>
              <a:lnSpc>
                <a:spcPct val="100000"/>
              </a:lnSpc>
            </a:pPr>
            <a:r>
              <a:rPr lang="zh-CN" altLang="en-US" sz="1800" dirty="0"/>
              <a:t>资源需求：</a:t>
            </a:r>
            <a:r>
              <a:rPr lang="en-US" altLang="zh-CN" sz="1800" dirty="0"/>
              <a:t>2</a:t>
            </a:r>
            <a:r>
              <a:rPr lang="zh-CN" altLang="en-US" sz="1800" dirty="0"/>
              <a:t>核</a:t>
            </a:r>
            <a:r>
              <a:rPr lang="en-US" altLang="zh-CN" sz="1800" dirty="0"/>
              <a:t>vCPU, 4G</a:t>
            </a:r>
            <a:r>
              <a:rPr lang="zh-CN" altLang="en-US" sz="1800" dirty="0"/>
              <a:t>内存</a:t>
            </a:r>
            <a:r>
              <a:rPr lang="en-US" altLang="zh-CN" sz="1800" dirty="0"/>
              <a:t>, 20G</a:t>
            </a:r>
            <a:r>
              <a:rPr lang="zh-CN" altLang="en-US" sz="1800" dirty="0"/>
              <a:t>硬盘；</a:t>
            </a:r>
            <a:endParaRPr lang="en-US" altLang="zh-CN" sz="1800" dirty="0"/>
          </a:p>
          <a:p>
            <a:pPr>
              <a:lnSpc>
                <a:spcPct val="100000"/>
              </a:lnSpc>
            </a:pPr>
            <a:endParaRPr lang="en-US" altLang="zh-CN" sz="1800" dirty="0"/>
          </a:p>
          <a:p>
            <a:pPr>
              <a:lnSpc>
                <a:spcPct val="100000"/>
              </a:lnSpc>
            </a:pPr>
            <a:endParaRPr lang="en-US" altLang="zh-CN" sz="180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838200" y="977900"/>
            <a:ext cx="10515600" cy="601331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</a:rPr>
              <a:t>任务</a:t>
            </a:r>
            <a:r>
              <a:rPr lang="en-US" altLang="zh-CN" sz="2800" dirty="0">
                <a:solidFill>
                  <a:schemeClr val="accent1"/>
                </a:solidFill>
              </a:rPr>
              <a:t>1</a:t>
            </a:r>
            <a:r>
              <a:rPr lang="zh-CN" altLang="en-US" sz="2800" dirty="0">
                <a:solidFill>
                  <a:schemeClr val="accent1"/>
                </a:solidFill>
              </a:rPr>
              <a:t>：</a:t>
            </a:r>
            <a:r>
              <a:rPr lang="en-US" altLang="zh-CN" sz="2800" dirty="0">
                <a:solidFill>
                  <a:schemeClr val="accent1"/>
                </a:solidFill>
              </a:rPr>
              <a:t>Hadoop </a:t>
            </a:r>
            <a:r>
              <a:rPr lang="zh-CN" altLang="en-US" sz="2800" dirty="0">
                <a:solidFill>
                  <a:schemeClr val="accent1"/>
                </a:solidFill>
              </a:rPr>
              <a:t>伪分布式环境安装与配置，</a:t>
            </a:r>
            <a:r>
              <a:rPr lang="en-US" altLang="zh-CN" sz="2800" dirty="0">
                <a:solidFill>
                  <a:schemeClr val="accent1"/>
                </a:solidFill>
              </a:rPr>
              <a:t>HDFS</a:t>
            </a:r>
            <a:r>
              <a:rPr lang="zh-CN" altLang="en-US" sz="2800" dirty="0">
                <a:solidFill>
                  <a:schemeClr val="accent1"/>
                </a:solidFill>
              </a:rPr>
              <a:t>基本操作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2025650"/>
            <a:ext cx="10515600" cy="41513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/>
              <a:t>下载并解压</a:t>
            </a:r>
            <a:r>
              <a:rPr lang="en-US" altLang="zh-CN" sz="2400" dirty="0"/>
              <a:t>Hadoop</a:t>
            </a:r>
            <a:r>
              <a:rPr lang="zh-CN" altLang="en-US" sz="2400" dirty="0"/>
              <a:t>软件包，配置</a:t>
            </a:r>
            <a:r>
              <a:rPr lang="en-US" altLang="zh-CN" sz="2400" dirty="0"/>
              <a:t>Hadoop</a:t>
            </a:r>
            <a:r>
              <a:rPr lang="zh-CN" altLang="en-US" sz="2400" dirty="0"/>
              <a:t>核心配置文件</a:t>
            </a:r>
            <a:endParaRPr lang="en-US" altLang="zh-CN" sz="2400" dirty="0"/>
          </a:p>
          <a:p>
            <a:pPr lvl="1">
              <a:lnSpc>
                <a:spcPct val="110000"/>
              </a:lnSpc>
            </a:pPr>
            <a:r>
              <a:rPr lang="zh-CN" altLang="en-US" sz="2000" dirty="0"/>
              <a:t>配置</a:t>
            </a:r>
            <a:r>
              <a:rPr lang="en-US" altLang="zh-CN" sz="2000" dirty="0"/>
              <a:t>hadoop-env.sh, </a:t>
            </a:r>
            <a:r>
              <a:rPr lang="en-US" altLang="zh-CN" sz="2000" dirty="0"/>
              <a:t>core-site.xml, hdfs-site.xml, mapred-site.xml, yarn-site.xml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>
              <a:lnSpc>
                <a:spcPct val="110000"/>
              </a:lnSpc>
            </a:pPr>
            <a:r>
              <a:rPr lang="zh-CN" altLang="en-US" sz="2400" dirty="0"/>
              <a:t>格式化 </a:t>
            </a:r>
            <a:r>
              <a:rPr lang="en-US" altLang="zh-CN" sz="2400" dirty="0"/>
              <a:t>HDFS </a:t>
            </a:r>
            <a:r>
              <a:rPr lang="zh-CN" altLang="en-US" sz="2400" dirty="0"/>
              <a:t>并启动 </a:t>
            </a:r>
            <a:r>
              <a:rPr lang="en-US" altLang="zh-CN" sz="2400" dirty="0"/>
              <a:t>Hadoop</a:t>
            </a:r>
            <a:r>
              <a:rPr lang="zh-CN" altLang="en-US" sz="2400" dirty="0"/>
              <a:t>相关进程</a:t>
            </a:r>
            <a:endParaRPr lang="en-US" altLang="zh-CN" sz="2400" dirty="0"/>
          </a:p>
          <a:p>
            <a:pPr lvl="1">
              <a:lnSpc>
                <a:spcPct val="110000"/>
              </a:lnSpc>
            </a:pPr>
            <a:r>
              <a:rPr lang="zh-CN" altLang="en-US" sz="2000" dirty="0"/>
              <a:t>在浏览器查看图形化的</a:t>
            </a:r>
            <a:r>
              <a:rPr lang="en-US" altLang="zh-CN" sz="2000" dirty="0"/>
              <a:t>HDFS</a:t>
            </a:r>
            <a:r>
              <a:rPr lang="zh-CN" altLang="en-US" sz="2000" dirty="0"/>
              <a:t>文件系统以及</a:t>
            </a:r>
            <a:r>
              <a:rPr lang="en-US" altLang="zh-CN" sz="2000" dirty="0"/>
              <a:t>Yarn</a:t>
            </a:r>
            <a:r>
              <a:rPr lang="zh-CN" altLang="en-US" sz="2000" dirty="0"/>
              <a:t>页面。</a:t>
            </a:r>
            <a:endParaRPr lang="en-US" altLang="zh-CN" sz="2000" dirty="0"/>
          </a:p>
          <a:p>
            <a:pPr>
              <a:lnSpc>
                <a:spcPct val="110000"/>
              </a:lnSpc>
            </a:pPr>
            <a:r>
              <a:rPr lang="zh-CN" altLang="en-US" sz="2400" dirty="0"/>
              <a:t>使用</a:t>
            </a:r>
            <a:r>
              <a:rPr lang="en-US" altLang="zh-CN" sz="2400" dirty="0" err="1"/>
              <a:t>hdfs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dfs</a:t>
            </a:r>
            <a:r>
              <a:rPr lang="en-US" altLang="zh-CN" sz="2400" dirty="0"/>
              <a:t> / </a:t>
            </a:r>
            <a:r>
              <a:rPr lang="en-US" altLang="zh-CN" sz="2400" dirty="0" err="1"/>
              <a:t>hadoop</a:t>
            </a:r>
            <a:r>
              <a:rPr lang="en-US" altLang="zh-CN" sz="2400" dirty="0"/>
              <a:t> fs</a:t>
            </a:r>
            <a:r>
              <a:rPr lang="zh-CN" altLang="en-US" sz="2400" dirty="0"/>
              <a:t>（这两个命令在大多数情况下等价）进行</a:t>
            </a:r>
            <a:r>
              <a:rPr lang="en-US" altLang="zh-CN" sz="2400" dirty="0"/>
              <a:t>HDFS</a:t>
            </a:r>
            <a:r>
              <a:rPr lang="zh-CN" altLang="en-US" sz="2400" dirty="0"/>
              <a:t>命令行基本操作。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838200" y="977900"/>
            <a:ext cx="10515600" cy="601331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</a:rPr>
              <a:t>任务</a:t>
            </a:r>
            <a:r>
              <a:rPr lang="en-US" altLang="zh-CN" sz="2800" dirty="0">
                <a:solidFill>
                  <a:schemeClr val="accent1"/>
                </a:solidFill>
              </a:rPr>
              <a:t>1</a:t>
            </a:r>
            <a:r>
              <a:rPr lang="zh-CN" altLang="en-US" sz="2800" dirty="0">
                <a:solidFill>
                  <a:schemeClr val="accent1"/>
                </a:solidFill>
              </a:rPr>
              <a:t>：</a:t>
            </a:r>
            <a:r>
              <a:rPr lang="en-US" altLang="zh-CN" sz="2800" dirty="0">
                <a:solidFill>
                  <a:schemeClr val="accent1"/>
                </a:solidFill>
              </a:rPr>
              <a:t>Hadoop </a:t>
            </a:r>
            <a:r>
              <a:rPr lang="zh-CN" altLang="en-US" sz="2800" dirty="0">
                <a:solidFill>
                  <a:schemeClr val="accent1"/>
                </a:solidFill>
              </a:rPr>
              <a:t>伪分布式环境安装与配置，</a:t>
            </a:r>
            <a:r>
              <a:rPr lang="en-US" altLang="zh-CN" sz="2800" dirty="0">
                <a:solidFill>
                  <a:schemeClr val="accent1"/>
                </a:solidFill>
              </a:rPr>
              <a:t>HDFS</a:t>
            </a:r>
            <a:r>
              <a:rPr lang="zh-CN" altLang="en-US" sz="2800" dirty="0">
                <a:solidFill>
                  <a:schemeClr val="accent1"/>
                </a:solidFill>
              </a:rPr>
              <a:t>基本操作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170885" y="1651452"/>
            <a:ext cx="2855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dirty="0"/>
              <a:t>1. Hadoop</a:t>
            </a:r>
            <a:r>
              <a:rPr lang="zh-CN" altLang="en-US" dirty="0"/>
              <a:t>安装并启动成功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838200" y="1651452"/>
            <a:ext cx="1911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800" dirty="0"/>
              <a:t>结果示例：</a:t>
            </a:r>
            <a:endParaRPr lang="en-US" altLang="zh-CN" sz="18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092960"/>
            <a:ext cx="10706100" cy="12344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340" y="3671570"/>
            <a:ext cx="9250680" cy="26441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838200" y="977900"/>
            <a:ext cx="10515600" cy="601331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</a:rPr>
              <a:t>任务</a:t>
            </a:r>
            <a:r>
              <a:rPr lang="en-US" altLang="zh-CN" sz="2800" dirty="0">
                <a:solidFill>
                  <a:schemeClr val="accent1"/>
                </a:solidFill>
              </a:rPr>
              <a:t>1</a:t>
            </a:r>
            <a:r>
              <a:rPr lang="zh-CN" altLang="en-US" sz="2800" dirty="0">
                <a:solidFill>
                  <a:schemeClr val="accent1"/>
                </a:solidFill>
              </a:rPr>
              <a:t>：</a:t>
            </a:r>
            <a:r>
              <a:rPr lang="en-US" altLang="zh-CN" sz="2800" dirty="0">
                <a:solidFill>
                  <a:schemeClr val="accent1"/>
                </a:solidFill>
              </a:rPr>
              <a:t>Hadoop </a:t>
            </a:r>
            <a:r>
              <a:rPr lang="zh-CN" altLang="en-US" sz="2800" dirty="0">
                <a:solidFill>
                  <a:schemeClr val="accent1"/>
                </a:solidFill>
              </a:rPr>
              <a:t>伪分布式环境安装与配置，</a:t>
            </a:r>
            <a:r>
              <a:rPr lang="en-US" altLang="zh-CN" sz="2800" dirty="0">
                <a:solidFill>
                  <a:schemeClr val="accent1"/>
                </a:solidFill>
              </a:rPr>
              <a:t>HDFS</a:t>
            </a:r>
            <a:r>
              <a:rPr lang="zh-CN" altLang="en-US" sz="2800" dirty="0">
                <a:solidFill>
                  <a:schemeClr val="accent1"/>
                </a:solidFill>
              </a:rPr>
              <a:t>基本操作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44879" y="1651452"/>
            <a:ext cx="45655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dirty="0"/>
              <a:t>2. HDFS</a:t>
            </a:r>
            <a:r>
              <a:rPr lang="zh-CN" altLang="en-US" dirty="0"/>
              <a:t>基本操作</a:t>
            </a:r>
            <a:endParaRPr lang="en-US" altLang="zh-CN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zh-CN" altLang="en-US" dirty="0"/>
              <a:t>查看</a:t>
            </a:r>
            <a:r>
              <a:rPr lang="en-US" altLang="zh-CN" dirty="0"/>
              <a:t>HDFS</a:t>
            </a:r>
            <a:r>
              <a:rPr lang="zh-CN" altLang="en-US" dirty="0"/>
              <a:t>根目录</a:t>
            </a:r>
            <a:endParaRPr lang="en-US" altLang="zh-CN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zh-CN" altLang="en-US" dirty="0"/>
              <a:t>向</a:t>
            </a:r>
            <a:r>
              <a:rPr lang="en-US" altLang="zh-CN" dirty="0"/>
              <a:t>HDFS</a:t>
            </a:r>
            <a:r>
              <a:rPr lang="zh-CN" altLang="en-US" dirty="0"/>
              <a:t>上传一个文件</a:t>
            </a:r>
            <a:endParaRPr lang="en-US" altLang="zh-CN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zh-CN" altLang="en-US" dirty="0"/>
              <a:t>显示上传的文件的内容</a:t>
            </a:r>
            <a:endParaRPr lang="en-US" altLang="zh-CN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zh-CN" altLang="en-US" dirty="0"/>
              <a:t>删除上传的文件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61995"/>
            <a:ext cx="12192000" cy="18211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879600" y="5664200"/>
            <a:ext cx="7315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Linux</a:t>
            </a:r>
            <a:r>
              <a:rPr lang="zh-CN" altLang="en-US">
                <a:solidFill>
                  <a:srgbClr val="FF0000"/>
                </a:solidFill>
              </a:rPr>
              <a:t>中操作</a:t>
            </a:r>
            <a:r>
              <a:rPr lang="zh-CN" altLang="en-US">
                <a:solidFill>
                  <a:srgbClr val="FF0000"/>
                </a:solidFill>
              </a:rPr>
              <a:t>完全一致，只是多了前缀</a:t>
            </a:r>
            <a:r>
              <a:rPr lang="en-US" altLang="zh-CN">
                <a:solidFill>
                  <a:srgbClr val="FF0000"/>
                </a:solidFill>
              </a:rPr>
              <a:t> bin/hdfs dfs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838200" y="977900"/>
            <a:ext cx="10515600" cy="601331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</a:rPr>
              <a:t>任务</a:t>
            </a:r>
            <a:r>
              <a:rPr lang="en-US" altLang="zh-CN" sz="2800" dirty="0">
                <a:solidFill>
                  <a:schemeClr val="accent1"/>
                </a:solidFill>
              </a:rPr>
              <a:t>1</a:t>
            </a:r>
            <a:r>
              <a:rPr lang="zh-CN" altLang="en-US" sz="2800" dirty="0">
                <a:solidFill>
                  <a:schemeClr val="accent1"/>
                </a:solidFill>
              </a:rPr>
              <a:t>：</a:t>
            </a:r>
            <a:r>
              <a:rPr lang="en-US" altLang="zh-CN" sz="2800" dirty="0">
                <a:solidFill>
                  <a:schemeClr val="accent1"/>
                </a:solidFill>
              </a:rPr>
              <a:t>Hadoop </a:t>
            </a:r>
            <a:r>
              <a:rPr lang="zh-CN" altLang="en-US" sz="2800" dirty="0">
                <a:solidFill>
                  <a:schemeClr val="accent1"/>
                </a:solidFill>
              </a:rPr>
              <a:t>伪分布式环境安装与配置，</a:t>
            </a:r>
            <a:r>
              <a:rPr lang="en-US" altLang="zh-CN" sz="2800" dirty="0">
                <a:solidFill>
                  <a:schemeClr val="accent1"/>
                </a:solidFill>
              </a:rPr>
              <a:t>HDFS</a:t>
            </a:r>
            <a:r>
              <a:rPr lang="zh-CN" altLang="en-US" sz="2800" dirty="0">
                <a:solidFill>
                  <a:schemeClr val="accent1"/>
                </a:solidFill>
              </a:rPr>
              <a:t>基本操作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38200" y="1689854"/>
            <a:ext cx="3521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dirty="0"/>
              <a:t>3. </a:t>
            </a:r>
            <a:r>
              <a:rPr lang="zh-CN" altLang="en-US" dirty="0"/>
              <a:t>查看</a:t>
            </a:r>
            <a:r>
              <a:rPr lang="en-US" altLang="zh-CN" dirty="0"/>
              <a:t>HDFS</a:t>
            </a:r>
            <a:r>
              <a:rPr lang="zh-CN" altLang="en-US" dirty="0"/>
              <a:t>和</a:t>
            </a:r>
            <a:r>
              <a:rPr lang="en-US" altLang="zh-CN" dirty="0"/>
              <a:t>YARN</a:t>
            </a:r>
            <a:r>
              <a:rPr lang="zh-CN" altLang="en-US" dirty="0"/>
              <a:t>的</a:t>
            </a:r>
            <a:r>
              <a:rPr lang="en-US" altLang="zh-CN" dirty="0"/>
              <a:t>web</a:t>
            </a:r>
            <a:r>
              <a:rPr lang="zh-CN" altLang="en-US" dirty="0"/>
              <a:t>界面</a:t>
            </a:r>
            <a:endParaRPr lang="en-US" altLang="zh-CN" dirty="0"/>
          </a:p>
        </p:txBody>
      </p:sp>
      <p:sp>
        <p:nvSpPr>
          <p:cNvPr id="23" name="文本框 22"/>
          <p:cNvSpPr txBox="1"/>
          <p:nvPr/>
        </p:nvSpPr>
        <p:spPr>
          <a:xfrm>
            <a:off x="2750157" y="5298021"/>
            <a:ext cx="1009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HDFS</a:t>
            </a:r>
            <a:endParaRPr lang="en-US" altLang="zh-CN" dirty="0"/>
          </a:p>
        </p:txBody>
      </p:sp>
      <p:sp>
        <p:nvSpPr>
          <p:cNvPr id="24" name="文本框 23"/>
          <p:cNvSpPr txBox="1"/>
          <p:nvPr/>
        </p:nvSpPr>
        <p:spPr>
          <a:xfrm>
            <a:off x="8007957" y="5298021"/>
            <a:ext cx="1009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YARN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925" y="2242820"/>
            <a:ext cx="5807075" cy="27165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535" y="2796540"/>
            <a:ext cx="5631180" cy="18326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838200" y="977900"/>
            <a:ext cx="10515600" cy="601331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</a:rPr>
              <a:t>任务</a:t>
            </a:r>
            <a:r>
              <a:rPr lang="en-US" altLang="zh-CN" sz="2800" dirty="0">
                <a:solidFill>
                  <a:schemeClr val="accent1"/>
                </a:solidFill>
              </a:rPr>
              <a:t>2</a:t>
            </a:r>
            <a:r>
              <a:rPr lang="zh-CN" altLang="en-US" sz="2800" dirty="0">
                <a:solidFill>
                  <a:schemeClr val="accent1"/>
                </a:solidFill>
              </a:rPr>
              <a:t>：执行</a:t>
            </a:r>
            <a:r>
              <a:rPr lang="en-US" altLang="zh-CN" sz="2800" dirty="0">
                <a:solidFill>
                  <a:schemeClr val="accent1"/>
                </a:solidFill>
              </a:rPr>
              <a:t>Hadoop</a:t>
            </a:r>
            <a:r>
              <a:rPr lang="zh-CN" altLang="en-US" sz="2800" dirty="0">
                <a:solidFill>
                  <a:schemeClr val="accent1"/>
                </a:solidFill>
              </a:rPr>
              <a:t>官方示例程序</a:t>
            </a:r>
            <a:r>
              <a:rPr lang="en-US" altLang="zh-CN" sz="2800" dirty="0">
                <a:solidFill>
                  <a:schemeClr val="accent1"/>
                </a:solidFill>
              </a:rPr>
              <a:t>wordcount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8199" y="1651452"/>
            <a:ext cx="6190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dirty="0"/>
              <a:t>1.</a:t>
            </a:r>
            <a:r>
              <a:rPr lang="zh-CN" altLang="en-US" sz="1800" dirty="0"/>
              <a:t>运行</a:t>
            </a:r>
            <a:r>
              <a:rPr lang="en-US" altLang="zh-CN" sz="1800" dirty="0"/>
              <a:t>wordcount</a:t>
            </a:r>
            <a:r>
              <a:rPr lang="zh-CN" altLang="en-US" sz="1800" dirty="0"/>
              <a:t>示例程序，观察</a:t>
            </a:r>
            <a:r>
              <a:rPr lang="en-US" altLang="zh-CN" sz="1800" dirty="0"/>
              <a:t>MapReduce</a:t>
            </a:r>
            <a:r>
              <a:rPr lang="zh-CN" altLang="en-US" sz="1800" dirty="0"/>
              <a:t>任务执行过程</a:t>
            </a:r>
            <a:endParaRPr lang="en-US" altLang="zh-CN" sz="1800" dirty="0"/>
          </a:p>
        </p:txBody>
      </p:sp>
      <p:sp>
        <p:nvSpPr>
          <p:cNvPr id="4" name="文本框 3"/>
          <p:cNvSpPr txBox="1"/>
          <p:nvPr/>
        </p:nvSpPr>
        <p:spPr>
          <a:xfrm>
            <a:off x="838199" y="2223778"/>
            <a:ext cx="6929583" cy="983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Font typeface="+mj-ea"/>
              <a:buAutoNum type="circleNumDbPlain"/>
            </a:pPr>
            <a:r>
              <a:rPr lang="zh-CN" altLang="en-US" sz="1600" dirty="0"/>
              <a:t>上传文本文件 </a:t>
            </a:r>
            <a:r>
              <a:rPr lang="en-US" altLang="zh-CN" sz="1600" dirty="0"/>
              <a:t>example.txt </a:t>
            </a:r>
            <a:r>
              <a:rPr lang="zh-CN" altLang="en-US" sz="1600" dirty="0"/>
              <a:t>到</a:t>
            </a:r>
            <a:r>
              <a:rPr lang="en-US" altLang="zh-CN" sz="1600" dirty="0"/>
              <a:t>HDFS</a:t>
            </a:r>
            <a:endParaRPr lang="en-US" altLang="zh-CN" sz="1600" dirty="0"/>
          </a:p>
          <a:p>
            <a:pPr marL="342900" indent="-342900" algn="just">
              <a:lnSpc>
                <a:spcPct val="120000"/>
              </a:lnSpc>
              <a:buFont typeface="+mj-lt"/>
              <a:buAutoNum type="circleNumDbPlain"/>
            </a:pPr>
            <a:r>
              <a:rPr lang="zh-CN" altLang="en-US" sz="1600" dirty="0"/>
              <a:t>使用官方</a:t>
            </a:r>
            <a:r>
              <a:rPr lang="en-US" altLang="zh-CN" sz="1600" dirty="0"/>
              <a:t>jar</a:t>
            </a:r>
            <a:r>
              <a:rPr lang="zh-CN" altLang="en-US" sz="1600" dirty="0"/>
              <a:t>包执行</a:t>
            </a:r>
            <a:r>
              <a:rPr lang="en-US" altLang="zh-CN" sz="1600" dirty="0"/>
              <a:t>wordcount</a:t>
            </a:r>
            <a:r>
              <a:rPr lang="zh-CN" altLang="en-US" sz="1600" dirty="0"/>
              <a:t>任务</a:t>
            </a:r>
            <a:endParaRPr lang="en-US" altLang="zh-CN" sz="1600" dirty="0"/>
          </a:p>
          <a:p>
            <a:pPr marL="342900" indent="-342900" algn="just">
              <a:lnSpc>
                <a:spcPct val="120000"/>
              </a:lnSpc>
              <a:buFont typeface="+mj-lt"/>
              <a:buAutoNum type="circleNumDbPlain"/>
            </a:pPr>
            <a:r>
              <a:rPr lang="zh-CN" altLang="en-US" sz="1600" dirty="0"/>
              <a:t>观察</a:t>
            </a:r>
            <a:r>
              <a:rPr lang="en-US" altLang="zh-CN" sz="1600" dirty="0"/>
              <a:t>MapReduce</a:t>
            </a:r>
            <a:r>
              <a:rPr lang="zh-CN" altLang="en-US" sz="1600" dirty="0"/>
              <a:t>执行过程（同时可以在</a:t>
            </a:r>
            <a:r>
              <a:rPr lang="en-US" altLang="zh-CN" sz="1600" dirty="0"/>
              <a:t>YARN Web</a:t>
            </a:r>
            <a:r>
              <a:rPr lang="zh-CN" altLang="en-US" sz="1600" dirty="0"/>
              <a:t>页面查看执行情况</a:t>
            </a:r>
            <a:r>
              <a:rPr lang="zh-CN" altLang="en-US" dirty="0"/>
              <a:t>）</a:t>
            </a:r>
            <a:endParaRPr lang="en-US" altLang="zh-CN" sz="1800" dirty="0"/>
          </a:p>
        </p:txBody>
      </p:sp>
      <p:sp>
        <p:nvSpPr>
          <p:cNvPr id="8" name="文本框 7"/>
          <p:cNvSpPr txBox="1"/>
          <p:nvPr/>
        </p:nvSpPr>
        <p:spPr>
          <a:xfrm>
            <a:off x="838200" y="3545205"/>
            <a:ext cx="510730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800" dirty="0"/>
              <a:t>运行</a:t>
            </a:r>
            <a:r>
              <a:rPr lang="en-US" altLang="zh-CN" sz="1800" dirty="0"/>
              <a:t>MapReduce</a:t>
            </a:r>
            <a:r>
              <a:rPr lang="zh-CN" altLang="en-US" sz="1800" dirty="0"/>
              <a:t>实例，以及执行结果示例：</a:t>
            </a:r>
            <a:endParaRPr lang="en-US" altLang="zh-CN" sz="1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6420" y="3410585"/>
            <a:ext cx="6291580" cy="31534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838200" y="977900"/>
            <a:ext cx="10515600" cy="601331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</a:rPr>
              <a:t>任务</a:t>
            </a:r>
            <a:r>
              <a:rPr lang="en-US" altLang="zh-CN" sz="2800" dirty="0">
                <a:solidFill>
                  <a:schemeClr val="accent1"/>
                </a:solidFill>
              </a:rPr>
              <a:t>3</a:t>
            </a:r>
            <a:r>
              <a:rPr lang="zh-CN" altLang="en-US" sz="2800" dirty="0">
                <a:solidFill>
                  <a:schemeClr val="accent1"/>
                </a:solidFill>
              </a:rPr>
              <a:t>：</a:t>
            </a:r>
            <a:r>
              <a:rPr lang="en-US" altLang="zh-CN" sz="2800" dirty="0">
                <a:solidFill>
                  <a:schemeClr val="accent1"/>
                </a:solidFill>
              </a:rPr>
              <a:t>Git </a:t>
            </a:r>
            <a:r>
              <a:rPr lang="zh-CN" altLang="en-US" sz="2800" dirty="0">
                <a:solidFill>
                  <a:schemeClr val="accent1"/>
                </a:solidFill>
              </a:rPr>
              <a:t>安装与基本操作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199" y="2025650"/>
            <a:ext cx="10855037" cy="440285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在本机安装好</a:t>
            </a:r>
            <a:r>
              <a:rPr lang="en-US" altLang="zh-CN" dirty="0"/>
              <a:t>Git</a:t>
            </a:r>
            <a:r>
              <a:rPr lang="zh-CN" altLang="en-US" dirty="0"/>
              <a:t>，并完成</a:t>
            </a:r>
            <a:r>
              <a:rPr lang="en-US" altLang="zh-CN" dirty="0"/>
              <a:t>Git</a:t>
            </a:r>
            <a:r>
              <a:rPr lang="zh-CN" altLang="en-US" dirty="0"/>
              <a:t>的全局配置。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在本机创建</a:t>
            </a:r>
            <a:r>
              <a:rPr lang="en-US" altLang="zh-CN" dirty="0"/>
              <a:t>SSH</a:t>
            </a:r>
            <a:r>
              <a:rPr lang="zh-CN" altLang="en-US" dirty="0"/>
              <a:t>公私钥对，将</a:t>
            </a:r>
            <a:r>
              <a:rPr lang="en-US" altLang="zh-CN" dirty="0"/>
              <a:t>SSH</a:t>
            </a:r>
            <a:r>
              <a:rPr lang="zh-CN" altLang="en-US" dirty="0"/>
              <a:t>公钥添加到个人</a:t>
            </a:r>
            <a:r>
              <a:rPr lang="en-US" altLang="zh-CN" dirty="0" err="1"/>
              <a:t>Github</a:t>
            </a:r>
            <a:r>
              <a:rPr lang="zh-CN" altLang="en-US" dirty="0"/>
              <a:t>账户上。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将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fluid-</a:t>
            </a:r>
            <a:r>
              <a:rPr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cloudnative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/fluid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1"/>
              </a:rPr>
              <a:t>https://github.com/fluid-cloudnative/fluid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）复刻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fork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到自己的</a:t>
            </a:r>
            <a:r>
              <a:rPr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Github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仓库，克隆（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clone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）到本地，建立新的分支（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branch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）。</a:t>
            </a:r>
            <a:endParaRPr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按照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Git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任务文档和任务分配文档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完成指定任务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98235" y="6233160"/>
            <a:ext cx="5384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具体任务文档等待通知，会给大家充足的</a:t>
            </a:r>
            <a:r>
              <a:rPr lang="en-US" altLang="zh-CN">
                <a:solidFill>
                  <a:srgbClr val="FF0000"/>
                </a:solidFill>
              </a:rPr>
              <a:t>ddl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838200" y="977900"/>
            <a:ext cx="10515600" cy="601331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</a:rPr>
              <a:t>任务</a:t>
            </a:r>
            <a:r>
              <a:rPr lang="en-US" altLang="zh-CN" sz="2800" dirty="0">
                <a:solidFill>
                  <a:schemeClr val="accent1"/>
                </a:solidFill>
              </a:rPr>
              <a:t>3</a:t>
            </a:r>
            <a:r>
              <a:rPr lang="zh-CN" altLang="en-US" sz="2800" dirty="0">
                <a:solidFill>
                  <a:schemeClr val="accent1"/>
                </a:solidFill>
              </a:rPr>
              <a:t>：</a:t>
            </a:r>
            <a:r>
              <a:rPr lang="en-US" altLang="zh-CN" sz="2800" dirty="0">
                <a:solidFill>
                  <a:schemeClr val="accent1"/>
                </a:solidFill>
              </a:rPr>
              <a:t>Git </a:t>
            </a:r>
            <a:r>
              <a:rPr lang="zh-CN" altLang="en-US" sz="2800" dirty="0">
                <a:solidFill>
                  <a:schemeClr val="accent1"/>
                </a:solidFill>
              </a:rPr>
              <a:t>安装与基本操作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199" y="2025650"/>
            <a:ext cx="10910456" cy="415131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完成任务后提交（</a:t>
            </a:r>
            <a:r>
              <a:rPr lang="en-US" altLang="zh-CN" dirty="0"/>
              <a:t>commit</a:t>
            </a:r>
            <a:r>
              <a:rPr lang="zh-CN" altLang="en-US" dirty="0"/>
              <a:t>），并推送（</a:t>
            </a:r>
            <a:r>
              <a:rPr lang="en-US" altLang="zh-CN" dirty="0"/>
              <a:t>push</a:t>
            </a:r>
            <a:r>
              <a:rPr lang="zh-CN" altLang="en-US" dirty="0"/>
              <a:t>）到自己</a:t>
            </a:r>
            <a:r>
              <a:rPr lang="en-US" altLang="zh-CN" dirty="0" err="1"/>
              <a:t>Github</a:t>
            </a:r>
            <a:r>
              <a:rPr lang="zh-CN" altLang="en-US" dirty="0"/>
              <a:t>账户的远程仓库相应分支（</a:t>
            </a:r>
            <a:r>
              <a:rPr lang="en-US" altLang="zh-CN" dirty="0"/>
              <a:t>branch</a:t>
            </a:r>
            <a:r>
              <a:rPr lang="zh-CN" altLang="en-US" dirty="0"/>
              <a:t>）。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创建一个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Issue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fluid-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cloudnative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/fluid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，再创建一个合并请求（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pull request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）至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fluid-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cloudnative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/fluid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，等待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pull request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被接受。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及时处理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PR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页面中他人提出的修改意见，等待最终合并（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 merge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）。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838200" y="977900"/>
            <a:ext cx="10515600" cy="601331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</a:rPr>
              <a:t>附加实验（可选）：执行更多的</a:t>
            </a:r>
            <a:r>
              <a:rPr lang="en-US" altLang="zh-CN" sz="2800" dirty="0">
                <a:solidFill>
                  <a:schemeClr val="accent1"/>
                </a:solidFill>
              </a:rPr>
              <a:t>Hadoop</a:t>
            </a:r>
            <a:r>
              <a:rPr lang="zh-CN" altLang="en-US" sz="2800" dirty="0">
                <a:solidFill>
                  <a:schemeClr val="accent1"/>
                </a:solidFill>
              </a:rPr>
              <a:t>官方示例程序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8199" y="1753596"/>
            <a:ext cx="11029546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本地</a:t>
            </a:r>
            <a:r>
              <a:rPr lang="zh-CN" altLang="en-US" sz="1800" dirty="0"/>
              <a:t>运行 </a:t>
            </a:r>
            <a:r>
              <a:rPr lang="en-US" altLang="zh-CN" sz="1800" dirty="0"/>
              <a:t>pi </a:t>
            </a:r>
            <a:r>
              <a:rPr lang="zh-CN" altLang="en-US" sz="1800" dirty="0"/>
              <a:t>示例程序，观察 </a:t>
            </a:r>
            <a:r>
              <a:rPr lang="en-US" altLang="zh-CN" sz="1800" dirty="0"/>
              <a:t>MapReduce </a:t>
            </a:r>
            <a:r>
              <a:rPr lang="zh-CN" altLang="en-US" sz="1800" dirty="0"/>
              <a:t>任务执行过程</a:t>
            </a:r>
            <a:r>
              <a:rPr lang="zh-CN" altLang="en-US" dirty="0"/>
              <a:t>（</a:t>
            </a:r>
            <a:r>
              <a:rPr lang="en-US" altLang="zh-CN" dirty="0"/>
              <a:t>8</a:t>
            </a:r>
            <a:r>
              <a:rPr lang="zh-CN" altLang="en-US" dirty="0"/>
              <a:t>个 </a:t>
            </a:r>
            <a:r>
              <a:rPr lang="en-US" altLang="zh-CN" dirty="0"/>
              <a:t>map </a:t>
            </a:r>
            <a:r>
              <a:rPr lang="zh-CN" altLang="en-US" dirty="0"/>
              <a:t>任务，每个任务</a:t>
            </a:r>
            <a:r>
              <a:rPr lang="en-US" altLang="zh-CN" dirty="0"/>
              <a:t>1,000,000</a:t>
            </a:r>
            <a:r>
              <a:rPr lang="zh-CN" altLang="en-US" dirty="0"/>
              <a:t>个样本）；</a:t>
            </a:r>
            <a:endParaRPr lang="en-US" altLang="zh-CN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dirty="0"/>
              <a:t>实验平台上运行 </a:t>
            </a:r>
            <a:r>
              <a:rPr lang="en-US" altLang="zh-CN" sz="1800" dirty="0"/>
              <a:t>pi </a:t>
            </a:r>
            <a:r>
              <a:rPr lang="zh-CN" altLang="en-US" sz="1800" dirty="0"/>
              <a:t>示例程序，观察</a:t>
            </a:r>
            <a:r>
              <a:rPr lang="en-US" altLang="zh-CN" sz="1800" dirty="0"/>
              <a:t>MapReduce</a:t>
            </a:r>
            <a:r>
              <a:rPr lang="zh-CN" altLang="en-US" sz="1800" dirty="0"/>
              <a:t>任务执行过程</a:t>
            </a:r>
            <a:r>
              <a:rPr lang="zh-CN" altLang="en-US" dirty="0"/>
              <a:t>（</a:t>
            </a:r>
            <a:r>
              <a:rPr lang="en-US" altLang="zh-CN" dirty="0"/>
              <a:t>8</a:t>
            </a:r>
            <a:r>
              <a:rPr lang="zh-CN" altLang="en-US" dirty="0"/>
              <a:t>个 </a:t>
            </a:r>
            <a:r>
              <a:rPr lang="en-US" altLang="zh-CN" dirty="0"/>
              <a:t>map </a:t>
            </a:r>
            <a:r>
              <a:rPr lang="zh-CN" altLang="en-US" dirty="0"/>
              <a:t>任务，每个任务</a:t>
            </a:r>
            <a:r>
              <a:rPr lang="en-US" altLang="zh-CN" dirty="0"/>
              <a:t>1,000,000</a:t>
            </a:r>
            <a:r>
              <a:rPr lang="zh-CN" altLang="en-US" dirty="0"/>
              <a:t>个样本）；</a:t>
            </a:r>
            <a:endParaRPr lang="en-US" altLang="zh-CN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比较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2</a:t>
            </a:r>
            <a:r>
              <a:rPr lang="zh-CN" altLang="en-US" dirty="0"/>
              <a:t>的执行时间，说明你的发现。</a:t>
            </a:r>
            <a:endParaRPr lang="en-US" altLang="zh-CN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本地或实验平台上运行 </a:t>
            </a:r>
            <a:r>
              <a:rPr lang="en-US" altLang="zh-CN" dirty="0"/>
              <a:t>grep </a:t>
            </a:r>
            <a:r>
              <a:rPr lang="zh-CN" altLang="en-US" dirty="0"/>
              <a:t>示例程序，找出给定的 </a:t>
            </a:r>
            <a:r>
              <a:rPr lang="en-US" altLang="zh-CN" dirty="0"/>
              <a:t>example.txt </a:t>
            </a:r>
            <a:r>
              <a:rPr lang="zh-CN" altLang="en-US" dirty="0"/>
              <a:t>中 </a:t>
            </a:r>
            <a:r>
              <a:rPr lang="en-US" altLang="zh-CN" dirty="0"/>
              <a:t>“</a:t>
            </a:r>
            <a:r>
              <a:rPr lang="en-US" altLang="zh-CN" dirty="0" err="1"/>
              <a:t>hadoop</a:t>
            </a:r>
            <a:r>
              <a:rPr lang="en-US" altLang="zh-CN" dirty="0"/>
              <a:t>” </a:t>
            </a:r>
            <a:r>
              <a:rPr lang="zh-CN" altLang="en-US" dirty="0"/>
              <a:t>这个单词出现的次数。</a:t>
            </a:r>
            <a:endParaRPr lang="en-US" altLang="zh-CN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5"/>
          <p:cNvSpPr>
            <a:spLocks noGrp="1"/>
          </p:cNvSpPr>
          <p:nvPr>
            <p:ph type="title"/>
          </p:nvPr>
        </p:nvSpPr>
        <p:spPr>
          <a:xfrm>
            <a:off x="838200" y="977900"/>
            <a:ext cx="10515600" cy="601331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</a:rPr>
              <a:t>实验报告要求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  <p:sp>
        <p:nvSpPr>
          <p:cNvPr id="5" name="内容占位符 6"/>
          <p:cNvSpPr>
            <a:spLocks noGrp="1"/>
          </p:cNvSpPr>
          <p:nvPr>
            <p:ph idx="1"/>
          </p:nvPr>
        </p:nvSpPr>
        <p:spPr>
          <a:xfrm>
            <a:off x="838200" y="1803978"/>
            <a:ext cx="5193145" cy="495703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000" dirty="0"/>
              <a:t>实验报告的内容至少包括：</a:t>
            </a:r>
            <a:endParaRPr lang="en-US" altLang="zh-CN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CN" sz="1600" dirty="0"/>
              <a:t>Hadoop </a:t>
            </a:r>
            <a:r>
              <a:rPr lang="zh-CN" altLang="en-US" sz="1600" dirty="0"/>
              <a:t>伪分布式环境安装与配置，</a:t>
            </a:r>
            <a:r>
              <a:rPr lang="en-US" altLang="zh-CN" sz="1600" dirty="0"/>
              <a:t>HDFS</a:t>
            </a:r>
            <a:r>
              <a:rPr lang="zh-CN" altLang="en-US" sz="1600" dirty="0"/>
              <a:t>基本操作</a:t>
            </a:r>
            <a:endParaRPr lang="en-US" altLang="zh-CN" sz="1600"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CN" sz="1200" dirty="0"/>
              <a:t>HDFS, Yarn </a:t>
            </a:r>
            <a:r>
              <a:rPr lang="zh-CN" altLang="en-US" sz="1200" dirty="0"/>
              <a:t>启动截图（包括</a:t>
            </a:r>
            <a:r>
              <a:rPr lang="en-US" altLang="zh-CN" sz="1200" dirty="0"/>
              <a:t>Web</a:t>
            </a:r>
            <a:r>
              <a:rPr lang="zh-CN" altLang="en-US" sz="1200" dirty="0"/>
              <a:t>页面）</a:t>
            </a:r>
            <a:endParaRPr lang="en-US" altLang="zh-CN" sz="1200"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CN" sz="1200" dirty="0"/>
              <a:t>HDFS </a:t>
            </a:r>
            <a:r>
              <a:rPr lang="zh-CN" altLang="en-US" sz="1200" dirty="0"/>
              <a:t>命令行基本操作执行截图</a:t>
            </a:r>
            <a:endParaRPr lang="en-US" altLang="zh-CN" sz="12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1600" dirty="0"/>
              <a:t>执行</a:t>
            </a:r>
            <a:r>
              <a:rPr lang="en-US" altLang="zh-CN" sz="1600" dirty="0"/>
              <a:t>Hadoop</a:t>
            </a:r>
            <a:r>
              <a:rPr lang="zh-CN" altLang="en-US" sz="1600" dirty="0"/>
              <a:t>官方示例程序</a:t>
            </a:r>
            <a:r>
              <a:rPr lang="en-US" altLang="zh-CN" sz="1600" dirty="0"/>
              <a:t>wordcount</a:t>
            </a:r>
            <a:endParaRPr lang="en-US" altLang="zh-CN" sz="1600"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CN" sz="1200" dirty="0"/>
              <a:t>Wordcount </a:t>
            </a:r>
            <a:r>
              <a:rPr lang="zh-CN" altLang="en-US" sz="1200" dirty="0"/>
              <a:t>示例程序执行截图</a:t>
            </a:r>
            <a:endParaRPr lang="en-US" altLang="zh-CN" sz="12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CN" sz="1600" dirty="0"/>
              <a:t>Git </a:t>
            </a:r>
            <a:r>
              <a:rPr lang="zh-CN" altLang="en-US" sz="1600" dirty="0"/>
              <a:t>安装与基本操作</a:t>
            </a:r>
            <a:endParaRPr lang="en-US" altLang="zh-CN" sz="1600"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CN" sz="1200" dirty="0"/>
              <a:t>Git </a:t>
            </a:r>
            <a:r>
              <a:rPr lang="zh-CN" altLang="en-US" sz="1200" dirty="0"/>
              <a:t>安装成功截图</a:t>
            </a:r>
            <a:endParaRPr lang="en-US" altLang="zh-CN" sz="1200"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1200" dirty="0"/>
              <a:t>本地具体修改截图</a:t>
            </a:r>
            <a:endParaRPr lang="en-US" altLang="zh-CN" sz="1200"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CN" sz="1200" dirty="0"/>
              <a:t>Issue</a:t>
            </a:r>
            <a:r>
              <a:rPr lang="zh-CN" altLang="en-US" sz="1200" dirty="0"/>
              <a:t>提交、</a:t>
            </a:r>
            <a:r>
              <a:rPr lang="en-US" altLang="zh-CN" sz="1200" dirty="0"/>
              <a:t>PR</a:t>
            </a:r>
            <a:r>
              <a:rPr lang="zh-CN" altLang="en-US" sz="1200" dirty="0"/>
              <a:t>提交、</a:t>
            </a:r>
            <a:r>
              <a:rPr lang="en-US" altLang="zh-CN" sz="1200" dirty="0"/>
              <a:t>PR</a:t>
            </a:r>
            <a:r>
              <a:rPr lang="zh-CN" altLang="en-US" sz="1200" dirty="0"/>
              <a:t>被接受以及最终合并截图（注明提交的</a:t>
            </a:r>
            <a:r>
              <a:rPr lang="en-US" altLang="zh-CN" sz="1200" dirty="0"/>
              <a:t>Issue</a:t>
            </a:r>
            <a:r>
              <a:rPr lang="zh-CN" altLang="en-US" sz="1200" dirty="0"/>
              <a:t>和</a:t>
            </a:r>
            <a:r>
              <a:rPr lang="en-US" altLang="zh-CN" sz="1200" dirty="0"/>
              <a:t>PR</a:t>
            </a:r>
            <a:r>
              <a:rPr lang="zh-CN" altLang="en-US" sz="1200" dirty="0"/>
              <a:t>编号）</a:t>
            </a:r>
            <a:endParaRPr lang="en-US" altLang="zh-CN" sz="12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1600" dirty="0"/>
              <a:t>附加实验（可选）</a:t>
            </a:r>
            <a:endParaRPr lang="en-US" altLang="zh-CN" sz="1600"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1200" dirty="0"/>
              <a:t>步骤</a:t>
            </a:r>
            <a:r>
              <a:rPr lang="en-US" altLang="zh-CN" sz="1200" dirty="0"/>
              <a:t>1</a:t>
            </a:r>
            <a:r>
              <a:rPr lang="zh-CN" altLang="en-US" sz="1200" dirty="0"/>
              <a:t>和步骤</a:t>
            </a:r>
            <a:r>
              <a:rPr lang="en-US" altLang="zh-CN" sz="1200" dirty="0"/>
              <a:t>2</a:t>
            </a:r>
            <a:r>
              <a:rPr lang="zh-CN" altLang="en-US" sz="1200" dirty="0"/>
              <a:t>的运行结果截图；</a:t>
            </a:r>
            <a:endParaRPr lang="en-US" altLang="zh-CN" sz="1200"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1200" dirty="0"/>
              <a:t>说明步骤</a:t>
            </a:r>
            <a:r>
              <a:rPr lang="en-US" altLang="zh-CN" sz="1200" dirty="0"/>
              <a:t>1</a:t>
            </a:r>
            <a:r>
              <a:rPr lang="zh-CN" altLang="en-US" sz="1200" dirty="0"/>
              <a:t>和步骤</a:t>
            </a:r>
            <a:r>
              <a:rPr lang="en-US" altLang="zh-CN" sz="1200" dirty="0"/>
              <a:t>2</a:t>
            </a:r>
            <a:r>
              <a:rPr lang="zh-CN" altLang="en-US" sz="1200" dirty="0"/>
              <a:t>在运行时间上的差异，尝试找出原因。</a:t>
            </a:r>
            <a:endParaRPr lang="en-US" altLang="zh-CN" sz="1200"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1200" dirty="0"/>
              <a:t>步骤</a:t>
            </a:r>
            <a:r>
              <a:rPr lang="en-US" altLang="zh-CN" sz="1200" dirty="0"/>
              <a:t>4</a:t>
            </a:r>
            <a:r>
              <a:rPr lang="zh-CN" altLang="en-US" sz="1200" dirty="0"/>
              <a:t>的运行结果截图。</a:t>
            </a:r>
            <a:endParaRPr lang="en-US" altLang="zh-CN" sz="1200" dirty="0"/>
          </a:p>
        </p:txBody>
      </p:sp>
      <p:sp>
        <p:nvSpPr>
          <p:cNvPr id="6" name="内容占位符 6"/>
          <p:cNvSpPr txBox="1"/>
          <p:nvPr/>
        </p:nvSpPr>
        <p:spPr>
          <a:xfrm>
            <a:off x="6160657" y="1803977"/>
            <a:ext cx="5193145" cy="4957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 sz="2000" dirty="0"/>
              <a:t>实验报告的格式要求：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报告格式应为</a:t>
            </a:r>
            <a:r>
              <a:rPr lang="en-US" altLang="zh-CN" sz="2000" dirty="0"/>
              <a:t>PDF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代码及其他资源（如果有）打包为 </a:t>
            </a:r>
            <a:r>
              <a:rPr lang="en-US" altLang="zh-CN" sz="2000" dirty="0"/>
              <a:t>zip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报告</a:t>
            </a:r>
            <a:r>
              <a:rPr lang="en-US" altLang="zh-CN" sz="2000" dirty="0"/>
              <a:t>/</a:t>
            </a:r>
            <a:r>
              <a:rPr lang="zh-CN" altLang="en-US" sz="2000" dirty="0"/>
              <a:t>压缩包文件名：学号</a:t>
            </a:r>
            <a:r>
              <a:rPr lang="en-US" altLang="zh-CN" sz="2000" dirty="0"/>
              <a:t>_</a:t>
            </a:r>
            <a:r>
              <a:rPr lang="zh-CN" altLang="en-US" sz="2000" dirty="0"/>
              <a:t>姓名</a:t>
            </a:r>
            <a:r>
              <a:rPr lang="en-US" altLang="zh-CN" sz="2000" dirty="0"/>
              <a:t>_BGlab1</a:t>
            </a:r>
            <a:r>
              <a:rPr lang="zh-CN" altLang="en-US" sz="2000" dirty="0"/>
              <a:t>；如果提交内容包含 </a:t>
            </a:r>
            <a:r>
              <a:rPr lang="en-US" altLang="zh-CN" sz="2000" dirty="0"/>
              <a:t>Jar </a:t>
            </a:r>
            <a:r>
              <a:rPr lang="zh-CN" altLang="en-US" sz="2000" dirty="0"/>
              <a:t>包，应当附带 </a:t>
            </a:r>
            <a:r>
              <a:rPr lang="en-US" altLang="zh-CN" sz="2000" dirty="0"/>
              <a:t>Jar </a:t>
            </a:r>
            <a:r>
              <a:rPr lang="zh-CN" altLang="en-US" sz="2000" dirty="0"/>
              <a:t>包的执行说明。</a:t>
            </a:r>
            <a:endParaRPr lang="en-US" altLang="zh-CN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2794000" y="614680"/>
            <a:ext cx="6094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课程实验平台相关信息等待通知，本实验用不到实验平台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83680" y="4607560"/>
            <a:ext cx="51816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DDL</a:t>
            </a:r>
            <a:r>
              <a:rPr lang="zh-CN" altLang="en-US">
                <a:solidFill>
                  <a:srgbClr val="FF0000"/>
                </a:solidFill>
              </a:rPr>
              <a:t>：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任务</a:t>
            </a:r>
            <a:r>
              <a:rPr lang="en-US" altLang="zh-CN">
                <a:solidFill>
                  <a:srgbClr val="FF0000"/>
                </a:solidFill>
              </a:rPr>
              <a:t>1+</a:t>
            </a:r>
            <a:r>
              <a:rPr lang="zh-CN" altLang="en-US">
                <a:solidFill>
                  <a:srgbClr val="FF0000"/>
                </a:solidFill>
              </a:rPr>
              <a:t>任务</a:t>
            </a:r>
            <a:r>
              <a:rPr lang="en-US" altLang="zh-CN">
                <a:solidFill>
                  <a:srgbClr val="FF0000"/>
                </a:solidFill>
              </a:rPr>
              <a:t>2 ddl </a:t>
            </a:r>
            <a:r>
              <a:rPr lang="zh-CN" altLang="en-US">
                <a:solidFill>
                  <a:srgbClr val="FF0000"/>
                </a:solidFill>
              </a:rPr>
              <a:t>：</a:t>
            </a:r>
            <a:r>
              <a:rPr lang="en-US" altLang="zh-CN">
                <a:solidFill>
                  <a:srgbClr val="FF0000"/>
                </a:solidFill>
              </a:rPr>
              <a:t>2026.04.07 23</a:t>
            </a:r>
            <a:r>
              <a:rPr lang="zh-CN" altLang="en-US">
                <a:solidFill>
                  <a:srgbClr val="FF0000"/>
                </a:solidFill>
              </a:rPr>
              <a:t>：</a:t>
            </a:r>
            <a:r>
              <a:rPr lang="en-US" altLang="zh-CN">
                <a:solidFill>
                  <a:srgbClr val="FF0000"/>
                </a:solidFill>
              </a:rPr>
              <a:t>59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任务</a:t>
            </a:r>
            <a:r>
              <a:rPr lang="en-US" altLang="zh-CN">
                <a:solidFill>
                  <a:srgbClr val="FF0000"/>
                </a:solidFill>
              </a:rPr>
              <a:t>3ddl</a:t>
            </a:r>
            <a:r>
              <a:rPr lang="zh-CN" altLang="en-US">
                <a:solidFill>
                  <a:srgbClr val="FF0000"/>
                </a:solidFill>
              </a:rPr>
              <a:t>：等待通知，不同同学</a:t>
            </a:r>
            <a:r>
              <a:rPr lang="en-US" altLang="zh-CN">
                <a:solidFill>
                  <a:srgbClr val="FF0000"/>
                </a:solidFill>
              </a:rPr>
              <a:t>ddl</a:t>
            </a:r>
            <a:r>
              <a:rPr lang="zh-CN" altLang="en-US">
                <a:solidFill>
                  <a:srgbClr val="FF0000"/>
                </a:solidFill>
              </a:rPr>
              <a:t>不一样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PT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2182</Words>
  <Application>WPS 演示</Application>
  <PresentationFormat>宽屏</PresentationFormat>
  <Paragraphs>124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黑体</vt:lpstr>
      <vt:lpstr>Times New Roman</vt:lpstr>
      <vt:lpstr>微软雅黑</vt:lpstr>
      <vt:lpstr>Arial Unicode MS</vt:lpstr>
      <vt:lpstr>Calibri</vt:lpstr>
      <vt:lpstr>Office 主题​​</vt:lpstr>
      <vt:lpstr>大数据处理综合实验课程（2026）</vt:lpstr>
      <vt:lpstr>课程实验1：Hadoop系统安装、开源大数据系统实验工具链使用</vt:lpstr>
      <vt:lpstr>课程实验1：Hadoop系统安装、开源大数据系统实验工具链使用</vt:lpstr>
      <vt:lpstr>任务1：Hadoop 伪分布式环境安装与配置，HDFS基本操作</vt:lpstr>
      <vt:lpstr>任务1：Hadoop 伪分布式环境安装与配置，HDFS基本操作</vt:lpstr>
      <vt:lpstr>任务1：Hadoop 伪分布式环境安装与配置，HDFS基本操作</vt:lpstr>
      <vt:lpstr>任务1：Hadoop 伪分布式环境安装与配置，HDFS基本操作</vt:lpstr>
      <vt:lpstr>任务2：执行Hadoop官方示例程序wordcount</vt:lpstr>
      <vt:lpstr>任务3：Git 安装与基本操作</vt:lpstr>
      <vt:lpstr>任务3：Git 安装与基本操作</vt:lpstr>
      <vt:lpstr>附加实验（可选）：执行更多的Hadoop官方示例程序</vt:lpstr>
      <vt:lpstr>实验报告要求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闵甜</cp:lastModifiedBy>
  <cp:revision>158</cp:revision>
  <dcterms:created xsi:type="dcterms:W3CDTF">2019-06-19T02:08:00Z</dcterms:created>
  <dcterms:modified xsi:type="dcterms:W3CDTF">2026-03-17T10:48:44Z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796A10EF1B864929B70D8CC642B1C460_11</vt:lpwstr>
  </property>
</Properties>
</file>